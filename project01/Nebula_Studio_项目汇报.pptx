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1097280"/>
            <a:ext cx="548640" cy="54864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1097280"/>
            <a:ext cx="320040" cy="3200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109728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Nebula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FC3F7"/>
                </a:solidFill>
                <a:latin typeface="Microsoft YaHei"/>
              </a:defRPr>
            </a:pPr>
            <a:r>
              <a:t>文图互转主题设计系统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572000"/>
            <a:ext cx="32004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0C0"/>
                </a:solidFill>
                <a:latin typeface="Microsoft YaHei"/>
              </a:defRPr>
            </a:pPr>
            <a:r>
              <a:t>项目终期汇报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2026年5月  |  版本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097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背景、目标与痛点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83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技术栈与架构设计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功能模块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六大核心功能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54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AI核心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154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策略模式 &amp; ComfyUI集成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840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权限体系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40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RBAC三级角色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526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526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7张核心表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12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前端展示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212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Vue 3 界面一览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897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897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部署管理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897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开发进度与部署方案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30175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Microsoft YaHei"/>
              </a:defRPr>
            </a:pPr>
            <a:r>
              <a:t>🎯 项目定位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94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文图互转主题设计平台，企业级AI辅助创作工具。支持文本生成图像（Text2Image）与图像理解（Image2Text），提供完整的风格管理、LoRA微调训练链路。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30175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💡 核心价值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194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创意可复用，风格可积累。通过主题风格管理 + LoRA微调实现品牌视觉一致性。AI辅助将设计师产出效率提升10倍以上，降低重复劳动成本。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0175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100"/>
                </a:solidFill>
                <a:latin typeface="Microsoft YaHei"/>
              </a:defRPr>
            </a:pPr>
            <a:r>
              <a:t>⚡ 解决痛点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94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效率瓶颈 → AI辅助生成</a:t>
            </a:r>
            <a:br/>
            <a:r>
              <a:t>一致性难题 → 风格管理与复用</a:t>
            </a:r>
            <a:br/>
            <a:r>
              <a:t>定制化成本 → LoRA模型训练</a:t>
            </a:r>
            <a:br/>
            <a:r>
              <a:t>多角色协作 → 三级权限体系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1832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73152" cy="7772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53619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3619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Vue 3 + Vite + Element Plus + Pinia  (端口 3000)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468880"/>
            <a:ext cx="941832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468880"/>
            <a:ext cx="73152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54203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网关层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4203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Spring Security + JWT 认证 + BCrypt密码哈希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474720"/>
            <a:ext cx="941832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3474720"/>
            <a:ext cx="73152" cy="7772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54787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54787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文生图 · 图生文 · 风格管理 · LoRA训练 · 用户管理 · 系统管理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480560"/>
            <a:ext cx="941832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4480560"/>
            <a:ext cx="73152" cy="7772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5537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100"/>
                </a:solidFill>
                <a:latin typeface="Microsoft YaHei"/>
              </a:defRPr>
            </a:pPr>
            <a:r>
              <a:t>AI服务层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55371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Text2ImageProvider / Image2TextProvider (策略模式)  |  ComfyUI / Doubao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486400"/>
            <a:ext cx="941832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486400"/>
            <a:ext cx="73152" cy="77724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55595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55955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MySQL 8.0 / H2 + Redis + MinIO + Kafka  |  MyBatis-Plus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217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后端: Java 21  |  Spring Boot 3.2  |  MyBatis-Plus  |  JWT  |  BCrypt  |  AOP 审计日志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六大功能模块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292608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292608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C3F7"/>
                </a:solidFill>
                <a:latin typeface="Consolas"/>
              </a:defRPr>
            </a:pPr>
            <a:r>
              <a:t>F01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用户管理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603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注册/登录/个人中心</a:t>
            </a:r>
            <a:br/>
            <a:r>
              <a:t>管理员用户CRUD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292608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371600"/>
            <a:ext cx="292608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86FC"/>
                </a:solidFill>
                <a:latin typeface="Consolas"/>
              </a:defRPr>
            </a:pPr>
            <a:r>
              <a:t>F02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文生图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5603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文本→图像AI生成</a:t>
            </a:r>
            <a:br/>
            <a:r>
              <a:t>参数调整/风格选择/历史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371600"/>
            <a:ext cx="292608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371600"/>
            <a:ext cx="292608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F03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图生文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5603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图像→文本智能分析</a:t>
            </a:r>
            <a:br/>
            <a:r>
              <a:t>结果编辑/历史查看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023360"/>
            <a:ext cx="292608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4023360"/>
            <a:ext cx="2926080" cy="54864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100"/>
                </a:solidFill>
                <a:latin typeface="Consolas"/>
              </a:defRPr>
            </a:pPr>
            <a:r>
              <a:t>F04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风格管理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212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风格创建/编辑/删除</a:t>
            </a:r>
            <a:br/>
            <a:r>
              <a:t>预览展示/效果演示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023360"/>
            <a:ext cx="292608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4023360"/>
            <a:ext cx="2926080" cy="54864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  <a:latin typeface="Consolas"/>
              </a:defRPr>
            </a:pPr>
            <a:r>
              <a:t>F05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LoRA训练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5212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数据集上传/参数配置</a:t>
            </a:r>
            <a:br/>
            <a:r>
              <a:t>训练监控/模型下载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023360"/>
            <a:ext cx="292608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023360"/>
            <a:ext cx="2926080" cy="54864"/>
          </a:xfrm>
          <a:prstGeom prst="rect">
            <a:avLst/>
          </a:prstGeom>
          <a:solidFill>
            <a:srgbClr val="7CE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E2FE"/>
                </a:solidFill>
                <a:latin typeface="Consolas"/>
              </a:defRPr>
            </a:pPr>
            <a:r>
              <a:t>F06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系统管理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5212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用户管理/系统配置</a:t>
            </a:r>
            <a:br/>
            <a:r>
              <a:t>审计日志/模型管理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AI 策略模式 &amp; ComfyUI 集成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FC3F7"/>
                </a:solidFill>
                <a:latin typeface="Microsoft YaHei"/>
              </a:defRPr>
            </a:pPr>
            <a:r>
              <a:t>🧩 AI Provider 策略模式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onsolas"/>
              </a:defRPr>
            </a:pPr>
            <a:r>
              <a:t>Text2ImageProvider (文生图接口)</a:t>
            </a:r>
            <a:br/>
            <a:r>
              <a:t>  ├─ DoubaoText2ImageProvider</a:t>
            </a:r>
            <a:br/>
            <a:r>
              <a:t>  ├─ ComfyUIText2ImageProvider</a:t>
            </a:r>
            <a:br/>
            <a:r>
              <a:t>  └─ SD1.5Text2ImageProvider</a:t>
            </a:r>
            <a:br/>
            <a:br/>
            <a:r>
              <a:t>Image2TextProvider (图生文接口)</a:t>
            </a:r>
            <a:br/>
            <a:r>
              <a:t>  └─ DoubaoImage2TextProvider</a:t>
            </a:r>
            <a:br/>
            <a:br/>
            <a:r>
              <a:t>▸ application.yml 配置切换</a:t>
            </a:r>
            <a:br/>
            <a:r>
              <a:t>▸ DynamicConfigService 运行时热更新</a:t>
            </a:r>
            <a:br/>
            <a:r>
              <a:t>▸ 前端 AiStatusBar 实时切换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097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Microsoft YaHei"/>
              </a:defRPr>
            </a:pPr>
            <a:r>
              <a:t>🖥️ ComfyUI 深度集成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onsolas"/>
              </a:defRPr>
            </a:pPr>
            <a:r>
              <a:t>ComfyUIClient (HTTP协议封装)</a:t>
            </a:r>
            <a:br/>
            <a:r>
              <a:t>  POST /prompt → 提交工作流</a:t>
            </a:r>
            <a:br/>
            <a:r>
              <a:t>  轮询 GET /history/{id}</a:t>
            </a:r>
            <a:br/>
            <a:r>
              <a:t>  GET /view → 获取生成图片</a:t>
            </a:r>
            <a:br/>
            <a:br/>
            <a:r>
              <a:t>Workflow映射:</a:t>
            </a:r>
            <a:br/>
            <a:r>
              <a:t>  节点26 → 正向提示词</a:t>
            </a:r>
            <a:br/>
            <a:r>
              <a:t>  节点22 → 负向提示词</a:t>
            </a:r>
            <a:br/>
            <a:r>
              <a:t>  节点24 → 采样参数</a:t>
            </a:r>
            <a:br/>
            <a:r>
              <a:t>  节点25 → 图片尺寸</a:t>
            </a:r>
            <a:br/>
            <a:br/>
            <a:r>
              <a:t>▸ 默认API: http://127.0.0.1:8188</a:t>
            </a:r>
            <a:br/>
            <a:r>
              <a:t>▸ 管理后台可动态配置地址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937760"/>
            <a:ext cx="941832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512064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📊  单元测试: ComfyUIClientTest (13个) + ComfyUIText2ImageProviderTest (7个) = 共20个</a:t>
            </a:r>
            <a:br/>
            <a:r>
              <a:t>📁  默认工作流文件: backend/src/main/resources/workflow/comfyui_default.json</a:t>
            </a:r>
            <a:br/>
            <a:r>
              <a:t>📐  文件上传限制: 单文件50MB  |  总请求100MB  |  JWT过期时间24h</a:t>
            </a:r>
            <a:br/>
            <a:r>
              <a:t>⚡  AI Provider 支持运行时切换，无需重启服务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RBAC 三级角色权限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30175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23160" y="1645920"/>
            <a:ext cx="914400" cy="9144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1783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普通用户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文生图</a:t>
            </a:r>
            <a:br/>
            <a:r>
              <a:t>图生文</a:t>
            </a:r>
            <a:br/>
            <a:r>
              <a:t>历史记录</a:t>
            </a:r>
            <a:br/>
            <a:r>
              <a:t>个人设置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71600"/>
            <a:ext cx="30175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06440" y="1645920"/>
            <a:ext cx="914400" cy="91440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783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设计师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918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普通用户权限 +</a:t>
            </a:r>
            <a:br/>
            <a:r>
              <a:t>风格管理</a:t>
            </a:r>
            <a:br/>
            <a:r>
              <a:t>LoRA训练</a:t>
            </a:r>
            <a:br/>
            <a:r>
              <a:t>模型管理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0175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89720" y="1645920"/>
            <a:ext cx="914400" cy="9144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783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管理员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918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全部权限 +</a:t>
            </a:r>
            <a:br/>
            <a:r>
              <a:t>用户管理</a:t>
            </a:r>
            <a:br/>
            <a:r>
              <a:t>系统配置</a:t>
            </a:r>
            <a:br/>
            <a:r>
              <a:t>审计日志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4864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🔒 JWT Token 认证 (24h过期)  |  BCrypt 密码哈希  |  前端 Vue Router 路由守卫</a:t>
            </a:r>
            <a:br/>
            <a:r>
              <a:t>📝 AOP 审计日志 (audit_log表)  |  RBAC 路由级控制  |  默认管理员: admin@nebula.com / admin123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9418320" cy="62179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618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C3F7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618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id, username, email, password, role, avatar, status, 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920240"/>
            <a:ext cx="9418320" cy="62179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993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93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image_record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993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86FC"/>
                </a:solidFill>
                <a:latin typeface="Microsoft YaHei"/>
              </a:defRPr>
            </a:pPr>
            <a:r>
              <a:t>图像记录表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933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id, user_id, prompt, image_url, type, style_id, params, created_at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651760"/>
            <a:ext cx="9418320" cy="62179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724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724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style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7249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Microsoft YaHei"/>
              </a:defRPr>
            </a:pPr>
            <a:r>
              <a:t>风格表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249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id, name, description, preview_url, config, creator_id, created_at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383280"/>
            <a:ext cx="9418320" cy="62179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456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1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456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training_task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4564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100"/>
                </a:solidFill>
                <a:latin typeface="Microsoft YaHei"/>
              </a:defRPr>
            </a:pPr>
            <a:r>
              <a:t>训练任务表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4564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id, name, status, params, dataset_path, output_path, creator_id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114800"/>
            <a:ext cx="9418320" cy="62179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187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55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1879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lora_model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187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  <a:latin typeface="Microsoft YaHei"/>
              </a:defRPr>
            </a:pPr>
            <a:r>
              <a:t>LoRA模型表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1879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id, name, version, file_path, training_task_id, style_id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846320"/>
            <a:ext cx="9418320" cy="62179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4919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E2F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9194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system_config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919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E2FE"/>
                </a:solidFill>
                <a:latin typeface="Microsoft YaHei"/>
              </a:defRPr>
            </a:pPr>
            <a:r>
              <a:t>系统配置表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9194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id, config_key, config_value, description, updated_at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577840"/>
            <a:ext cx="9418320" cy="62179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4480" y="5650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B0C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6509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audit_log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6509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审计日志表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6509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onsolas"/>
              </a:defRPr>
            </a:pPr>
            <a:r>
              <a:t>id, user_id, action, target, detail, ip, created_at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4008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H2 (开发/测试)  ⇄  MySQL 8.0+ (生产)  |  DataInitializer 启动时自动建表并初始化  |  MyBatis-Plus 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前端架构一览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Microsoft YaHei"/>
              </a:defRPr>
            </a:pPr>
            <a:r>
              <a:t>🧱 Vue 3 组件结构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onsolas"/>
              </a:defRPr>
            </a:pPr>
            <a:r>
              <a:t>App.vue</a:t>
            </a:r>
            <a:br/>
            <a:r>
              <a:t>├── AppHeader / AppSidebar / AiStatusBar</a:t>
            </a:r>
            <a:br/>
            <a:r>
              <a:t>├── LoginView / RegisterView</a:t>
            </a:r>
            <a:br/>
            <a:r>
              <a:t>├── DashboardView</a:t>
            </a:r>
            <a:br/>
            <a:r>
              <a:t>├── Text2ImageView (文生图)</a:t>
            </a:r>
            <a:br/>
            <a:r>
              <a:t>├── Image2TextView (图生文)</a:t>
            </a:r>
            <a:br/>
            <a:r>
              <a:t>├── StyleManagementView</a:t>
            </a:r>
            <a:br/>
            <a:r>
              <a:t>├── LoraTrainingView</a:t>
            </a:r>
            <a:br/>
            <a:r>
              <a:t>├── AdminDashboard</a:t>
            </a:r>
            <a:br/>
            <a:r>
              <a:t>├── SystemConfigView</a:t>
            </a:r>
            <a:br/>
            <a:r>
              <a:t>├── UserManagementView</a:t>
            </a:r>
            <a:br/>
            <a:r>
              <a:t>└── AuditLogView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097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🛠️ 前端技术栈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Vue 3 + Composition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核心框架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极速构建工具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834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834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企业级UI组件库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3832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Pinia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3832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轻量状态管理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Vue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路由守卫 + RBAC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480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Axios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480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HTTP客户端 (request.js封装)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VueUse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5029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组合式工具函数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943600"/>
            <a:ext cx="94183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9893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端口 3000  |  API baseURL: http://localhost:8080/api  |  request.js 统一封装  |  路由级权限控制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BB86FC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开发管理与部署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303520"/>
            <a:ext cx="22860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Microsoft YaHei"/>
              </a:defRPr>
            </a:pPr>
            <a:r>
              <a:t>📋 架构决策记录 (ADR)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Java 21 + Spring Boot 3.2 技术栈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MySQL 8.0+ 数据库 (生产环境)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Redis 缓存方案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71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Kafka 消息队列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MinIO 文件存储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94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Vue 3 前端框架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JWT 认证方案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17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617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RBAC 授权方案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29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  <a:latin typeface="Consolas"/>
              </a:defRPr>
            </a:pPr>
            <a:r>
              <a:t>ADR-009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✅ AI Provider 策略模式 + ComfyUI 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097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🚀 部署命令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7373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onsolas"/>
              </a:defRPr>
            </a:pPr>
            <a:r>
              <a:t>开发环境 (H2):</a:t>
            </a:r>
            <a:br/>
            <a:r>
              <a:t>  build.bat     → 构建项目</a:t>
            </a:r>
            <a:br/>
            <a:r>
              <a:t>  start.bat     → 启动服务</a:t>
            </a:r>
            <a:br/>
            <a:r>
              <a:t>  stop.bat      → 停止服务</a:t>
            </a:r>
            <a:br/>
            <a:r>
              <a:t>  dev.bat       → 管理面板</a:t>
            </a:r>
            <a:br/>
            <a:r>
              <a:t>  test.bat      → 冒烟测试</a:t>
            </a:r>
            <a:br/>
            <a:br/>
            <a:r>
              <a:t>生产环境 (MySQL):</a:t>
            </a:r>
            <a:br/>
            <a:r>
              <a:t>  mvn spring-boot:run</a:t>
            </a:r>
            <a:br/>
            <a:r>
              <a:t>    --spring.profiles.active=mysql</a:t>
            </a:r>
            <a:br/>
            <a:br/>
            <a:r>
              <a:t>容器化:</a:t>
            </a:r>
            <a:br/>
            <a:r>
              <a:t>  Docker Compose + K8s 编排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943600"/>
            <a:ext cx="94183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9893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Microsoft YaHei"/>
              </a:defRPr>
            </a:pPr>
            <a:r>
              <a:t>📦 20个单元测试  |  Python全量API测试  |  前后端独立部署  |  H2开发 / MySQL生产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FC3F7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389120"/>
            <a:ext cx="27432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Microsoft YaHei"/>
              </a:defRPr>
            </a:pPr>
            <a:r>
              <a:t>Nebula Studio — 文图互转主题设计系统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默认管理员: admin@nebula.com  |  前端端口: 3000  |  后端端口: 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